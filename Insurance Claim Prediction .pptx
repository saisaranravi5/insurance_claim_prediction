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8"/>
  </p:notesMasterIdLst>
  <p:sldIdLst>
    <p:sldId id="256" r:id="rId2"/>
    <p:sldId id="264" r:id="rId3"/>
    <p:sldId id="265" r:id="rId4"/>
    <p:sldId id="266" r:id="rId5"/>
    <p:sldId id="257" r:id="rId6"/>
    <p:sldId id="259" r:id="rId7"/>
    <p:sldId id="278" r:id="rId8"/>
    <p:sldId id="272" r:id="rId9"/>
    <p:sldId id="273" r:id="rId10"/>
    <p:sldId id="271" r:id="rId11"/>
    <p:sldId id="277" r:id="rId12"/>
    <p:sldId id="280" r:id="rId13"/>
    <p:sldId id="281" r:id="rId14"/>
    <p:sldId id="260" r:id="rId15"/>
    <p:sldId id="270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C77508-9113-4574-AF9B-A84B0DC003A5}">
          <p14:sldIdLst>
            <p14:sldId id="256"/>
            <p14:sldId id="264"/>
            <p14:sldId id="265"/>
            <p14:sldId id="266"/>
            <p14:sldId id="257"/>
            <p14:sldId id="259"/>
            <p14:sldId id="278"/>
            <p14:sldId id="272"/>
            <p14:sldId id="273"/>
            <p14:sldId id="271"/>
            <p14:sldId id="277"/>
            <p14:sldId id="280"/>
            <p14:sldId id="281"/>
            <p14:sldId id="260"/>
            <p14:sldId id="270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>
      <p:cViewPr varScale="1">
        <p:scale>
          <a:sx n="105" d="100"/>
          <a:sy n="105" d="100"/>
        </p:scale>
        <p:origin x="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4EB5E-7136-4DF1-8A12-7E2617AFD551}" type="datetimeFigureOut"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9CA0D-9DC3-4B1E-B7FB-5E1F6EE34B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95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9CA0D-9DC3-4B1E-B7FB-5E1F6EE34B7B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7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Key Takeaways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Overfitting Issue</a:t>
            </a:r>
            <a:r>
              <a:rPr lang="en-US"/>
              <a:t>: The model performs significantly better on training data compared to testing data, indicating overfitting.</a:t>
            </a:r>
            <a:endParaRPr lang="en-US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/>
              <a:t>Apply </a:t>
            </a:r>
            <a:r>
              <a:rPr lang="en-US" b="1"/>
              <a:t>Random Forest</a:t>
            </a:r>
            <a:r>
              <a:rPr lang="en-US"/>
              <a:t> for more robust generalization.</a:t>
            </a:r>
          </a:p>
          <a:p>
            <a:pPr marL="285750" lvl="1" indent="-285750">
              <a:buFont typeface="Arial"/>
              <a:buChar char="•"/>
            </a:pPr>
            <a:r>
              <a:rPr lang="en-US"/>
              <a:t>Tune hyperparameters to reduce False Negatives.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9CA0D-9DC3-4B1E-B7FB-5E1F6EE34B7B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7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/>
              <a:t>Strengths</a:t>
            </a:r>
            <a:r>
              <a:rPr lang="en-US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The model performs well in predicting "Not Claimed" instances.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Weighted metrics indicate robust overall performance.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Challenges</a:t>
            </a:r>
            <a:r>
              <a:rPr lang="en-US"/>
              <a:t>: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model struggles with </a:t>
            </a:r>
            <a:r>
              <a:rPr lang="en-US" b="1"/>
              <a:t>False Negatives</a:t>
            </a:r>
            <a:r>
              <a:rPr lang="en-US"/>
              <a:t> in the "Claimed" class, leading to lower recall.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Next Steps</a:t>
            </a:r>
            <a:r>
              <a:rPr lang="en-US"/>
              <a:t>: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Improve performance for the minority class (Claimed) by:</a:t>
            </a:r>
            <a:endParaRPr lang="en-US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/>
              <a:t>Using </a:t>
            </a:r>
            <a:r>
              <a:rPr lang="en-US" b="1"/>
              <a:t>class balancing techniques.</a:t>
            </a:r>
            <a:endParaRPr lang="en-US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/>
              <a:t>Exploring alternative models (logistic regression) or hyperparameter tuning.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9CA0D-9DC3-4B1E-B7FB-5E1F6EE34B7B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8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/>
              <a:t>Best Model Performance</a:t>
            </a:r>
            <a:r>
              <a:rPr lang="en-US"/>
              <a:t>: Logistic Regression achieved the highest recall and accuracy among all models tested on the dataset.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Challenges Remaining</a:t>
            </a:r>
            <a:r>
              <a:rPr lang="en-US"/>
              <a:t>: False Negatives (184) remain an area of focus for the "Claimed" class.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Next Steps</a:t>
            </a:r>
            <a:r>
              <a:rPr lang="en-US"/>
              <a:t>: Further improvements could include class balancing or hyperparameter tuning to minimize False Negatives further.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9CA0D-9DC3-4B1E-B7FB-5E1F6EE34B7B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38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EF1E-A9F3-813A-AAFB-4CE53D2A3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714D4-32A0-40A6-F804-DAA21969E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C869C-E300-FBC6-2253-37469C64E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BAE8B-0A32-7748-C731-4531DC041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9CA0D-9DC3-4B1E-B7FB-5E1F6EE34B7B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3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57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28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97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08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8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1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6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51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51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67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1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52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55ED-74BC-FEFF-41BC-8DB623E35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157" y="274553"/>
            <a:ext cx="3642309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Final Project Presentation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05A93E-4D4F-1EEB-A198-1DA9C1EAC7E3}"/>
              </a:ext>
            </a:extLst>
          </p:cNvPr>
          <p:cNvSpPr txBox="1">
            <a:spLocks/>
          </p:cNvSpPr>
          <p:nvPr/>
        </p:nvSpPr>
        <p:spPr>
          <a:xfrm>
            <a:off x="1729236" y="1299789"/>
            <a:ext cx="8837486" cy="4186611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INSURANCE CLAIM PREDICTION</a:t>
            </a:r>
          </a:p>
        </p:txBody>
      </p:sp>
    </p:spTree>
    <p:extLst>
      <p:ext uri="{BB962C8B-B14F-4D97-AF65-F5344CB8AC3E}">
        <p14:creationId xmlns:p14="http://schemas.microsoft.com/office/powerpoint/2010/main" val="318922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653E-F1FE-D9E5-6F93-5A9A4168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F0894-775D-55EA-D3EC-DABBCB5C8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1600" dirty="0">
                <a:latin typeface="Avenir Next LT Pro"/>
                <a:ea typeface="+mn-lt"/>
                <a:cs typeface="+mn-lt"/>
              </a:rPr>
              <a:t>The goal of our project is to develop a </a:t>
            </a:r>
            <a:r>
              <a:rPr lang="en-US" sz="1600" b="1" dirty="0">
                <a:latin typeface="Avenir Next LT Pro"/>
                <a:ea typeface="+mn-lt"/>
                <a:cs typeface="+mn-lt"/>
              </a:rPr>
              <a:t>classification model</a:t>
            </a:r>
            <a:r>
              <a:rPr lang="en-US" sz="1600" dirty="0">
                <a:latin typeface="Avenir Next LT Pro"/>
                <a:ea typeface="+mn-lt"/>
                <a:cs typeface="+mn-lt"/>
              </a:rPr>
              <a:t> that predicts whether a customer will file an </a:t>
            </a:r>
            <a:r>
              <a:rPr lang="en-US" sz="1600" b="1" dirty="0">
                <a:latin typeface="Avenir Next LT Pro"/>
                <a:ea typeface="+mn-lt"/>
                <a:cs typeface="+mn-lt"/>
              </a:rPr>
              <a:t>insurance claim</a:t>
            </a:r>
            <a:r>
              <a:rPr lang="en-US" sz="1600" dirty="0">
                <a:latin typeface="Avenir Next LT Pro"/>
                <a:ea typeface="+mn-lt"/>
                <a:cs typeface="+mn-lt"/>
              </a:rPr>
              <a:t> during the policy period. This is achieved by analyzing a dataset containing customer demographics, driving history, vehicle details, and other factors to:</a:t>
            </a:r>
            <a:endParaRPr lang="en-US" sz="1600" dirty="0">
              <a:latin typeface="Avenir Next LT Pro"/>
            </a:endParaRPr>
          </a:p>
          <a:p>
            <a:r>
              <a:rPr lang="en-US" sz="1600" b="1" dirty="0">
                <a:latin typeface="Avenir Next LT Pro"/>
                <a:ea typeface="+mn-lt"/>
                <a:cs typeface="+mn-lt"/>
              </a:rPr>
              <a:t>Identify Key Features</a:t>
            </a:r>
            <a:r>
              <a:rPr lang="en-US" sz="1600" dirty="0">
                <a:latin typeface="Avenir Next LT Pro"/>
                <a:ea typeface="+mn-lt"/>
                <a:cs typeface="+mn-lt"/>
              </a:rPr>
              <a:t>: Understand which factors most strongly influence claim likelihood (e.g., credit score, past accidents).</a:t>
            </a:r>
            <a:endParaRPr lang="en-US" sz="1600" dirty="0">
              <a:latin typeface="Avenir Next LT Pro"/>
            </a:endParaRPr>
          </a:p>
          <a:p>
            <a:r>
              <a:rPr lang="en-US" sz="1600" b="1" dirty="0">
                <a:latin typeface="Avenir Next LT Pro"/>
                <a:ea typeface="+mn-lt"/>
                <a:cs typeface="+mn-lt"/>
              </a:rPr>
              <a:t>Build Predictive Models</a:t>
            </a:r>
            <a:r>
              <a:rPr lang="en-US" sz="1600" dirty="0">
                <a:latin typeface="Avenir Next LT Pro"/>
                <a:ea typeface="+mn-lt"/>
                <a:cs typeface="+mn-lt"/>
              </a:rPr>
              <a:t>: Use machine learning algorithms like Logistic Regression, Decision Tree, and Random Forest to predict claim outcomes accurately.</a:t>
            </a:r>
            <a:endParaRPr lang="en-US" sz="1600" dirty="0">
              <a:latin typeface="Avenir Next LT Pro"/>
            </a:endParaRPr>
          </a:p>
          <a:p>
            <a:r>
              <a:rPr lang="en-US" sz="1600" b="1" dirty="0">
                <a:latin typeface="Avenir Next LT Pro"/>
                <a:ea typeface="+mn-lt"/>
                <a:cs typeface="+mn-lt"/>
              </a:rPr>
              <a:t>Provide Business Insights</a:t>
            </a:r>
            <a:r>
              <a:rPr lang="en-US" sz="1600" dirty="0">
                <a:latin typeface="Avenir Next LT Pro"/>
                <a:ea typeface="+mn-lt"/>
                <a:cs typeface="+mn-lt"/>
              </a:rPr>
              <a:t>: Generate actionable recommendations to optimize risk management, pricing strategies, and customer engagement for the insurance company.</a:t>
            </a:r>
            <a:endParaRPr lang="en-US" sz="1600" dirty="0">
              <a:latin typeface="Avenir Next LT Pro"/>
            </a:endParaRPr>
          </a:p>
          <a:p>
            <a:endParaRPr lang="en-US" sz="160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4068909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8313-90E4-DDD4-256E-4059E0CD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F6FE-C8DA-395A-5447-2B096338A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57802"/>
            <a:ext cx="11117088" cy="4375676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>
                <a:latin typeface="Avenir Next LT Pro"/>
                <a:ea typeface="+mn-lt"/>
                <a:cs typeface="+mn-lt"/>
              </a:rPr>
              <a:t>Business Question:</a:t>
            </a:r>
            <a:endParaRPr lang="en-US" sz="1600">
              <a:latin typeface="Avenir Next LT Pro"/>
            </a:endParaRPr>
          </a:p>
          <a:p>
            <a:r>
              <a:rPr lang="en-US" sz="1600">
                <a:latin typeface="Avenir Next LT Pro"/>
                <a:ea typeface="+mn-lt"/>
                <a:cs typeface="+mn-lt"/>
              </a:rPr>
              <a:t>How can we predict if a customer will file an insurance claim during the policy period, and which factors contribute most to claim likelihood?</a:t>
            </a:r>
            <a:endParaRPr lang="en-US" sz="1600">
              <a:latin typeface="Avenir Next LT Pro"/>
            </a:endParaRP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Background and Context:</a:t>
            </a:r>
          </a:p>
          <a:p>
            <a:r>
              <a:rPr lang="en-US" sz="1600" b="1">
                <a:latin typeface="Avenir Next LT Pro"/>
                <a:ea typeface="+mn-lt"/>
                <a:cs typeface="+mn-lt"/>
              </a:rPr>
              <a:t>Industry Challenge</a:t>
            </a:r>
            <a:r>
              <a:rPr lang="en-US" sz="1600">
                <a:latin typeface="Avenir Next LT Pro"/>
                <a:ea typeface="+mn-lt"/>
                <a:cs typeface="+mn-lt"/>
              </a:rPr>
              <a:t>: Insurance companies face challenges in managing risk and optimizing premiums due to unpredictable claim patterns. Misjudgment in pricing can lead to losses or missed revenue opportunities.</a:t>
            </a:r>
            <a:endParaRPr lang="en-US" sz="1600">
              <a:latin typeface="Avenir Next LT Pro"/>
            </a:endParaRPr>
          </a:p>
          <a:p>
            <a:r>
              <a:rPr lang="en-US" sz="1600" b="1">
                <a:latin typeface="Avenir Next LT Pro"/>
                <a:ea typeface="+mn-lt"/>
                <a:cs typeface="+mn-lt"/>
              </a:rPr>
              <a:t>Current Practices</a:t>
            </a:r>
            <a:r>
              <a:rPr lang="en-US" sz="1600">
                <a:latin typeface="Avenir Next LT Pro"/>
                <a:ea typeface="+mn-lt"/>
                <a:cs typeface="+mn-lt"/>
              </a:rPr>
              <a:t>: Many insurers rely on manual or outdated methods to assess risk, which may overlook subtle patterns in customer behavior or vehicle characteristics.</a:t>
            </a:r>
            <a:endParaRPr lang="en-US" sz="1600">
              <a:latin typeface="Avenir Next LT Pro"/>
            </a:endParaRPr>
          </a:p>
          <a:p>
            <a:r>
              <a:rPr lang="en-US" sz="1600" b="1">
                <a:latin typeface="Avenir Next LT Pro"/>
                <a:ea typeface="+mn-lt"/>
                <a:cs typeface="+mn-lt"/>
              </a:rPr>
              <a:t>Data Opportunity</a:t>
            </a:r>
            <a:r>
              <a:rPr lang="en-US" sz="1600">
                <a:latin typeface="Avenir Next LT Pro"/>
                <a:ea typeface="+mn-lt"/>
                <a:cs typeface="+mn-lt"/>
              </a:rPr>
              <a:t>: With access to customer demographics, vehicle details, and driving history, machine learning provides an opportunity to build predictive models that improve accuracy and efficiency in risk assessment.</a:t>
            </a:r>
            <a:endParaRPr lang="en-US" sz="1600">
              <a:latin typeface="Avenir Next LT Pro"/>
            </a:endParaRPr>
          </a:p>
          <a:p>
            <a:endParaRPr lang="en-US" sz="160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71060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8313-90E4-DDD4-256E-4059E0CD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F6FE-C8DA-395A-5447-2B096338A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57802"/>
            <a:ext cx="11117088" cy="4375676"/>
          </a:xfrm>
        </p:spPr>
        <p:txBody>
          <a:bodyPr vert="horz" lIns="0" tIns="45720" rIns="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>
                <a:latin typeface="Avenir Next LT Pro"/>
              </a:rPr>
              <a:t>Project Objectives:</a:t>
            </a:r>
            <a:endParaRPr lang="en-US" sz="1600">
              <a:latin typeface="Avenir Next LT Pro"/>
            </a:endParaRPr>
          </a:p>
          <a:p>
            <a:r>
              <a:rPr lang="en-US" sz="1600" b="1">
                <a:latin typeface="Avenir Next LT Pro"/>
                <a:ea typeface="+mn-lt"/>
                <a:cs typeface="+mn-lt"/>
              </a:rPr>
              <a:t>Predict Claims</a:t>
            </a:r>
            <a:r>
              <a:rPr lang="en-US" sz="1600">
                <a:latin typeface="Avenir Next LT Pro"/>
                <a:ea typeface="+mn-lt"/>
                <a:cs typeface="+mn-lt"/>
              </a:rPr>
              <a:t>: Develop a robust machine learning model to predict whether a customer will file an insurance claim.</a:t>
            </a:r>
            <a:endParaRPr lang="en-US" sz="1600">
              <a:latin typeface="Avenir Next LT Pro"/>
            </a:endParaRPr>
          </a:p>
          <a:p>
            <a:r>
              <a:rPr lang="en-US" sz="1600" b="1">
                <a:latin typeface="Avenir Next LT Pro"/>
                <a:ea typeface="+mn-lt"/>
                <a:cs typeface="+mn-lt"/>
              </a:rPr>
              <a:t>Identify Influential Factors</a:t>
            </a:r>
            <a:r>
              <a:rPr lang="en-US" sz="1600">
                <a:latin typeface="Avenir Next LT Pro"/>
                <a:ea typeface="+mn-lt"/>
                <a:cs typeface="+mn-lt"/>
              </a:rPr>
              <a:t>: Understand the key variables that contribute most to claim likelihood.</a:t>
            </a:r>
            <a:endParaRPr lang="en-US" sz="1600">
              <a:latin typeface="Avenir Next LT Pro"/>
            </a:endParaRP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How the Model Addresses the Business Question:</a:t>
            </a:r>
            <a:endParaRPr lang="en-US" sz="1600">
              <a:latin typeface="Avenir Next LT Pro"/>
            </a:endParaRPr>
          </a:p>
          <a:p>
            <a:pPr>
              <a:buFont typeface="Arial"/>
              <a:buChar char="•"/>
            </a:pPr>
            <a:r>
              <a:rPr lang="en-US" sz="1600" b="1">
                <a:latin typeface="Avenir Next LT Pro"/>
                <a:ea typeface="+mn-lt"/>
                <a:cs typeface="+mn-lt"/>
              </a:rPr>
              <a:t>Model Output</a:t>
            </a:r>
            <a:r>
              <a:rPr lang="en-US" sz="1600">
                <a:latin typeface="Avenir Next LT Pro"/>
                <a:ea typeface="+mn-lt"/>
                <a:cs typeface="+mn-lt"/>
              </a:rPr>
              <a:t>:</a:t>
            </a:r>
            <a:endParaRPr lang="en-US" sz="1600">
              <a:latin typeface="Avenir Next LT Pro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600">
                <a:latin typeface="Avenir Next LT Pro"/>
                <a:ea typeface="+mn-lt"/>
                <a:cs typeface="+mn-lt"/>
              </a:rPr>
              <a:t>The classification model predicts whether a claim will be filed (Yes/No).</a:t>
            </a:r>
            <a:endParaRPr lang="en-US" sz="1600">
              <a:latin typeface="Avenir Next LT Pro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600">
                <a:latin typeface="Avenir Next LT Pro"/>
                <a:ea typeface="+mn-lt"/>
                <a:cs typeface="+mn-lt"/>
              </a:rPr>
              <a:t>High </a:t>
            </a:r>
            <a:r>
              <a:rPr lang="en-US" sz="1600" b="1">
                <a:latin typeface="Avenir Next LT Pro"/>
                <a:ea typeface="+mn-lt"/>
                <a:cs typeface="+mn-lt"/>
              </a:rPr>
              <a:t>Recall</a:t>
            </a:r>
            <a:r>
              <a:rPr lang="en-US" sz="1600">
                <a:latin typeface="Avenir Next LT Pro"/>
                <a:ea typeface="+mn-lt"/>
                <a:cs typeface="+mn-lt"/>
              </a:rPr>
              <a:t> ensures most claims are correctly identified, minimizing undetected risks.</a:t>
            </a:r>
            <a:endParaRPr lang="en-US" sz="1600">
              <a:latin typeface="Avenir Next LT Pro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600">
                <a:latin typeface="Avenir Next LT Pro"/>
                <a:ea typeface="+mn-lt"/>
                <a:cs typeface="+mn-lt"/>
              </a:rPr>
              <a:t>High </a:t>
            </a:r>
            <a:r>
              <a:rPr lang="en-US" sz="1600" b="1">
                <a:latin typeface="Avenir Next LT Pro"/>
                <a:ea typeface="+mn-lt"/>
                <a:cs typeface="+mn-lt"/>
              </a:rPr>
              <a:t>Accuracy</a:t>
            </a:r>
            <a:r>
              <a:rPr lang="en-US" sz="1600">
                <a:latin typeface="Avenir Next LT Pro"/>
                <a:ea typeface="+mn-lt"/>
                <a:cs typeface="+mn-lt"/>
              </a:rPr>
              <a:t> ensures overall reliability of predictions, avoiding misclassification.</a:t>
            </a:r>
            <a:endParaRPr lang="en-US" sz="1600">
              <a:latin typeface="Avenir Next LT Pro"/>
            </a:endParaRPr>
          </a:p>
          <a:p>
            <a:pPr>
              <a:buFont typeface="Arial"/>
              <a:buChar char="•"/>
            </a:pPr>
            <a:r>
              <a:rPr lang="en-US" sz="1600" b="1">
                <a:latin typeface="Avenir Next LT Pro"/>
                <a:ea typeface="+mn-lt"/>
                <a:cs typeface="+mn-lt"/>
              </a:rPr>
              <a:t>Insights Derived</a:t>
            </a:r>
            <a:r>
              <a:rPr lang="en-US" sz="1600">
                <a:latin typeface="Avenir Next LT Pro"/>
                <a:ea typeface="+mn-lt"/>
                <a:cs typeface="+mn-lt"/>
              </a:rPr>
              <a:t>:</a:t>
            </a:r>
            <a:endParaRPr lang="en-US" sz="1600">
              <a:latin typeface="Avenir Next LT Pro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600">
                <a:latin typeface="Avenir Next LT Pro"/>
                <a:ea typeface="+mn-lt"/>
                <a:cs typeface="+mn-lt"/>
              </a:rPr>
              <a:t>Identifies key risk factors like </a:t>
            </a:r>
            <a:r>
              <a:rPr lang="en-US" sz="1600" err="1">
                <a:latin typeface="Avenir Next LT Pro"/>
              </a:rPr>
              <a:t>credit_score</a:t>
            </a:r>
            <a:r>
              <a:rPr lang="en-US" sz="1600">
                <a:latin typeface="Avenir Next LT Pro"/>
                <a:ea typeface="+mn-lt"/>
                <a:cs typeface="+mn-lt"/>
              </a:rPr>
              <a:t> and </a:t>
            </a:r>
            <a:r>
              <a:rPr lang="en-US" sz="1600" err="1">
                <a:latin typeface="Avenir Next LT Pro"/>
              </a:rPr>
              <a:t>violations_accidents</a:t>
            </a:r>
            <a:r>
              <a:rPr lang="en-US" sz="1600">
                <a:latin typeface="Avenir Next LT Pro"/>
                <a:ea typeface="+mn-lt"/>
                <a:cs typeface="+mn-lt"/>
              </a:rPr>
              <a:t>.</a:t>
            </a:r>
            <a:endParaRPr lang="en-US" sz="1600">
              <a:latin typeface="Avenir Next LT Pro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600">
                <a:latin typeface="Avenir Next LT Pro"/>
                <a:ea typeface="+mn-lt"/>
                <a:cs typeface="+mn-lt"/>
              </a:rPr>
              <a:t>Categorizes customers into risk profiles based on prediction probabilities.</a:t>
            </a:r>
            <a:endParaRPr lang="en-US">
              <a:latin typeface="Avenir Next LT Pro"/>
            </a:endParaRPr>
          </a:p>
          <a:p>
            <a:pPr marL="0" indent="0">
              <a:buNone/>
            </a:pPr>
            <a:endParaRPr lang="en-US" sz="1600"/>
          </a:p>
          <a:p>
            <a:endParaRPr lang="en-US" sz="160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5571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CB23-D96E-D18E-7FD6-5FE63B4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DATASET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2F70E-7A77-11A3-BCEB-9485922C5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77" y="1558342"/>
            <a:ext cx="10718479" cy="4370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Avenir Next LT Pro"/>
                <a:ea typeface="+mn-lt"/>
                <a:cs typeface="+mn-lt"/>
              </a:rPr>
              <a:t>S</a:t>
            </a:r>
            <a:r>
              <a:rPr lang="en-US" sz="1500" b="1" dirty="0">
                <a:latin typeface="Avenir Next LT Pro"/>
                <a:ea typeface="+mn-lt"/>
                <a:cs typeface="+mn-lt"/>
              </a:rPr>
              <a:t>tructure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: Total rows: 10,000 , Total columns: 18 (including target variable </a:t>
            </a:r>
            <a:r>
              <a:rPr lang="en-US" sz="1500" dirty="0">
                <a:latin typeface="Avenir Next LT Pro"/>
              </a:rPr>
              <a:t>outcome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).</a:t>
            </a:r>
            <a:endParaRPr lang="en-US" sz="1500" dirty="0">
              <a:latin typeface="Avenir Next LT Pro"/>
            </a:endParaRPr>
          </a:p>
          <a:p>
            <a:pPr marL="0" indent="0">
              <a:buNone/>
            </a:pPr>
            <a:r>
              <a:rPr lang="en-US" sz="1500" b="1" dirty="0">
                <a:latin typeface="Avenir Next LT Pro"/>
                <a:ea typeface="+mn-lt"/>
                <a:cs typeface="+mn-lt"/>
              </a:rPr>
              <a:t>Feature Types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:</a:t>
            </a:r>
            <a:endParaRPr lang="en-US" sz="1500" dirty="0">
              <a:latin typeface="Avenir Next LT Pro"/>
            </a:endParaRPr>
          </a:p>
          <a:p>
            <a:pPr lvl="1"/>
            <a:r>
              <a:rPr lang="en-US" sz="1500" dirty="0">
                <a:latin typeface="Avenir Next LT Pro"/>
                <a:ea typeface="+mn-lt"/>
                <a:cs typeface="+mn-lt"/>
              </a:rPr>
              <a:t>Numeric: </a:t>
            </a:r>
            <a:r>
              <a:rPr lang="en-US" sz="1500" dirty="0">
                <a:latin typeface="Avenir Next LT Pro"/>
              </a:rPr>
              <a:t>age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, </a:t>
            </a:r>
            <a:r>
              <a:rPr lang="en-US" sz="1500" dirty="0">
                <a:latin typeface="Avenir Next LT Pro"/>
              </a:rPr>
              <a:t>income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, </a:t>
            </a:r>
            <a:r>
              <a:rPr lang="en-US" sz="1500" dirty="0" err="1">
                <a:latin typeface="Avenir Next LT Pro"/>
              </a:rPr>
              <a:t>credit_score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, </a:t>
            </a:r>
            <a:r>
              <a:rPr lang="en-US" sz="1500" dirty="0" err="1">
                <a:latin typeface="Avenir Next LT Pro"/>
              </a:rPr>
              <a:t>annual_mileage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.</a:t>
            </a:r>
            <a:endParaRPr lang="en-US" sz="1500" dirty="0">
              <a:latin typeface="Avenir Next LT Pro"/>
            </a:endParaRPr>
          </a:p>
          <a:p>
            <a:pPr lvl="1"/>
            <a:r>
              <a:rPr lang="en-US" sz="1500" dirty="0">
                <a:latin typeface="Avenir Next LT Pro"/>
                <a:ea typeface="+mn-lt"/>
                <a:cs typeface="+mn-lt"/>
              </a:rPr>
              <a:t>Categorical: </a:t>
            </a:r>
            <a:r>
              <a:rPr lang="en-US" sz="1500" dirty="0">
                <a:latin typeface="Avenir Next LT Pro"/>
              </a:rPr>
              <a:t>gender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, </a:t>
            </a:r>
            <a:r>
              <a:rPr lang="en-US" sz="1500" dirty="0" err="1">
                <a:latin typeface="Avenir Next LT Pro"/>
              </a:rPr>
              <a:t>vehicle_type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, </a:t>
            </a:r>
            <a:r>
              <a:rPr lang="en-US" sz="1500" dirty="0">
                <a:latin typeface="Avenir Next LT Pro"/>
              </a:rPr>
              <a:t>education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.</a:t>
            </a:r>
            <a:endParaRPr lang="en-US" sz="1500" dirty="0">
              <a:latin typeface="Avenir Next LT Pro"/>
            </a:endParaRPr>
          </a:p>
          <a:p>
            <a:pPr lvl="1"/>
            <a:r>
              <a:rPr lang="en-US" sz="1500" dirty="0">
                <a:latin typeface="Avenir Next LT Pro"/>
                <a:ea typeface="+mn-lt"/>
                <a:cs typeface="+mn-lt"/>
              </a:rPr>
              <a:t>Binary: </a:t>
            </a:r>
            <a:r>
              <a:rPr lang="en-US" sz="1500" dirty="0" err="1">
                <a:latin typeface="Avenir Next LT Pro"/>
              </a:rPr>
              <a:t>marital_status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, </a:t>
            </a:r>
            <a:r>
              <a:rPr lang="en-US" sz="1500" dirty="0" err="1">
                <a:latin typeface="Avenir Next LT Pro"/>
              </a:rPr>
              <a:t>vehicle_year</a:t>
            </a:r>
            <a:r>
              <a:rPr lang="en-US" sz="1500" dirty="0">
                <a:latin typeface="Avenir Next LT Pro"/>
                <a:ea typeface="+mn-lt"/>
                <a:cs typeface="+mn-lt"/>
              </a:rPr>
              <a:t> (converted).</a:t>
            </a:r>
            <a:endParaRPr lang="en-US" sz="1500" dirty="0">
              <a:latin typeface="Avenir Next LT Pro"/>
            </a:endParaRPr>
          </a:p>
          <a:p>
            <a:r>
              <a:rPr lang="en-US" sz="1500" b="1" dirty="0">
                <a:latin typeface="Avenir Next LT Pro"/>
              </a:rPr>
              <a:t>Feature Analysis - </a:t>
            </a:r>
            <a:r>
              <a:rPr lang="en-US" sz="1500" dirty="0">
                <a:latin typeface="Avenir Next LT Pro"/>
                <a:ea typeface="Calibri"/>
                <a:cs typeface="Calibri"/>
              </a:rPr>
              <a:t>To address the missing values in </a:t>
            </a:r>
            <a:r>
              <a:rPr lang="en-US" sz="1500" b="1" dirty="0">
                <a:latin typeface="Avenir Next LT Pro"/>
                <a:ea typeface="Calibri"/>
                <a:cs typeface="Calibri"/>
              </a:rPr>
              <a:t>credit score</a:t>
            </a:r>
            <a:r>
              <a:rPr lang="en-US" sz="1500" dirty="0">
                <a:latin typeface="Avenir Next LT Pro"/>
                <a:ea typeface="Calibri"/>
                <a:cs typeface="Calibri"/>
              </a:rPr>
              <a:t> and </a:t>
            </a:r>
            <a:r>
              <a:rPr lang="en-US" sz="1500" b="1" dirty="0">
                <a:latin typeface="Avenir Next LT Pro"/>
                <a:ea typeface="Calibri"/>
                <a:cs typeface="Calibri"/>
              </a:rPr>
              <a:t>annual mileage</a:t>
            </a:r>
            <a:r>
              <a:rPr lang="en-US" sz="1500" dirty="0">
                <a:latin typeface="Avenir Next LT Pro"/>
                <a:ea typeface="Calibri"/>
                <a:cs typeface="Calibri"/>
              </a:rPr>
              <a:t>, we imputed the missing data using the </a:t>
            </a:r>
            <a:r>
              <a:rPr lang="en-US" sz="1500" b="1" dirty="0">
                <a:latin typeface="Avenir Next LT Pro"/>
                <a:ea typeface="Calibri"/>
                <a:cs typeface="Calibri"/>
              </a:rPr>
              <a:t>mean</a:t>
            </a:r>
            <a:r>
              <a:rPr lang="en-US" sz="1500" dirty="0">
                <a:latin typeface="Avenir Next LT Pro"/>
                <a:ea typeface="Calibri"/>
                <a:cs typeface="Calibri"/>
              </a:rPr>
              <a:t> of each respective feature. Additionally, we removed the </a:t>
            </a:r>
            <a:r>
              <a:rPr lang="en-US" sz="1500" b="1" dirty="0">
                <a:latin typeface="Avenir Next LT Pro"/>
                <a:ea typeface="Calibri"/>
                <a:cs typeface="Calibri"/>
              </a:rPr>
              <a:t>postal code</a:t>
            </a:r>
            <a:r>
              <a:rPr lang="en-US" sz="1500" dirty="0">
                <a:latin typeface="Avenir Next LT Pro"/>
                <a:ea typeface="Calibri"/>
                <a:cs typeface="Calibri"/>
              </a:rPr>
              <a:t> and </a:t>
            </a:r>
            <a:r>
              <a:rPr lang="en-US" sz="1500" b="1" dirty="0">
                <a:latin typeface="Avenir Next LT Pro"/>
                <a:ea typeface="Calibri"/>
                <a:cs typeface="Calibri"/>
              </a:rPr>
              <a:t>ID</a:t>
            </a:r>
            <a:r>
              <a:rPr lang="en-US" sz="1500" dirty="0">
                <a:latin typeface="Avenir Next LT Pro"/>
                <a:ea typeface="Calibri"/>
                <a:cs typeface="Calibri"/>
              </a:rPr>
              <a:t> variables from the dataset, as they showed no significant correlation with the target variable or other key features. These preprocessing steps helped improve the data quality and model performance.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37378E-4716-4C97-D3A0-F4D7B191A86A}"/>
              </a:ext>
            </a:extLst>
          </p:cNvPr>
          <p:cNvCxnSpPr/>
          <p:nvPr/>
        </p:nvCxnSpPr>
        <p:spPr>
          <a:xfrm flipH="1">
            <a:off x="8229551" y="4221155"/>
            <a:ext cx="150" cy="158679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A95242-0736-64CD-3B02-8C864F057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555593"/>
              </p:ext>
            </p:extLst>
          </p:nvPr>
        </p:nvGraphicFramePr>
        <p:xfrm>
          <a:off x="695157" y="4398211"/>
          <a:ext cx="1078585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925">
                  <a:extLst>
                    <a:ext uri="{9D8B030D-6E8A-4147-A177-3AD203B41FA5}">
                      <a16:colId xmlns:a16="http://schemas.microsoft.com/office/drawing/2014/main" val="1796930650"/>
                    </a:ext>
                  </a:extLst>
                </a:gridCol>
                <a:gridCol w="5392925">
                  <a:extLst>
                    <a:ext uri="{9D8B030D-6E8A-4147-A177-3AD203B41FA5}">
                      <a16:colId xmlns:a16="http://schemas.microsoft.com/office/drawing/2014/main" val="2647783190"/>
                    </a:ext>
                  </a:extLst>
                </a:gridCol>
              </a:tblGrid>
              <a:tr h="332155">
                <a:tc>
                  <a:txBody>
                    <a:bodyPr/>
                    <a:lstStyle/>
                    <a:p>
                      <a:r>
                        <a:rPr lang="en-US" sz="1600">
                          <a:latin typeface="Avenir Next LT Pro"/>
                        </a:rPr>
                        <a:t>Numerical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Categorical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0681"/>
                  </a:ext>
                </a:extLst>
              </a:tr>
              <a:tr h="11230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credit_score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: Higher credit scores seem less associated with claims.</a:t>
                      </a:r>
                      <a:br>
                        <a:rPr lang="en-US" sz="1400" b="1" i="0" u="none" strike="noStrike" noProof="0">
                          <a:latin typeface="Avenir Next LT Pro"/>
                        </a:rPr>
                      </a:br>
                      <a:r>
                        <a:rPr lang="en-US" sz="1400" b="1" i="0" u="none" strike="noStrike" noProof="0">
                          <a:latin typeface="Avenir Next LT Pro"/>
                        </a:rPr>
                        <a:t>age</a:t>
                      </a:r>
                      <a:r>
                        <a:rPr lang="en-US" sz="1400" b="0" i="0" u="none" strike="noStrike" noProof="0">
                          <a:latin typeface="Avenir Next LT Pro"/>
                        </a:rPr>
                        <a:t>: Younger drivers appear to file more claims.</a:t>
                      </a:r>
                      <a:br>
                        <a:rPr lang="en-US" sz="1400" b="0" i="0" u="none" strike="noStrike" noProof="0">
                          <a:latin typeface="Avenir Next LT Pro"/>
                        </a:rPr>
                      </a:br>
                      <a:r>
                        <a:rPr lang="en-US" sz="1400" b="1" i="0" u="none" strike="noStrike" noProof="0">
                          <a:latin typeface="Avenir Next LT Pro"/>
                        </a:rPr>
                        <a:t>annual_mileage</a:t>
                      </a:r>
                      <a:r>
                        <a:rPr lang="en-US" sz="1400" b="0" i="0" u="none" strike="noStrike" noProof="0">
                          <a:latin typeface="Avenir Next LT Pro"/>
                        </a:rPr>
                        <a:t>: Higher mileage correlates with higher claim probability.</a:t>
                      </a:r>
                      <a:endParaRPr lang="en-US" sz="1400">
                        <a:latin typeface="Avenir Next LT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latin typeface="Avenir Next LT Pro"/>
                        </a:rPr>
                        <a:t>vehicle_type</a:t>
                      </a:r>
                      <a:r>
                        <a:rPr lang="en-US" sz="1400" b="0" i="0" u="none" strike="noStrike" noProof="0">
                          <a:latin typeface="Avenir Next LT Pro"/>
                        </a:rPr>
                        <a:t>: Sports cars exhibit a higher claim rate.</a:t>
                      </a:r>
                      <a:endParaRPr lang="en-US" sz="1400">
                        <a:latin typeface="Avenir Next LT Pro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latin typeface="Avenir Next LT Pro"/>
                        </a:rPr>
                        <a:t>driving_experience</a:t>
                      </a:r>
                      <a:r>
                        <a:rPr lang="en-US" sz="1400" b="0" i="0" u="none" strike="noStrike" noProof="0">
                          <a:latin typeface="Avenir Next LT Pro"/>
                        </a:rPr>
                        <a:t>: Inexperienced drivers are more likely to file claims.</a:t>
                      </a:r>
                      <a:endParaRPr lang="en-US" sz="1400">
                        <a:latin typeface="Avenir Next LT Pro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Avenir Next LT Pr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969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23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DC01-0F0D-616B-B77B-6FA19588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75044"/>
            <a:ext cx="10691265" cy="1518082"/>
          </a:xfrm>
        </p:spPr>
        <p:txBody>
          <a:bodyPr/>
          <a:lstStyle/>
          <a:p>
            <a:r>
              <a:rPr lang="en-US"/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AFF3D-5E5A-AA08-7525-FA55F85D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24705"/>
            <a:ext cx="10691265" cy="43045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1. </a:t>
            </a:r>
            <a:r>
              <a:rPr lang="en-US" sz="1500" b="1">
                <a:latin typeface="Avenir Next LT Pro"/>
              </a:rPr>
              <a:t>Credit Score vs. Outcome</a:t>
            </a:r>
            <a:endParaRPr lang="en-US" sz="1500">
              <a:latin typeface="Avenir Next LT Pro"/>
            </a:endParaRPr>
          </a:p>
          <a:p>
            <a:r>
              <a:rPr lang="en-US" sz="1500" b="1">
                <a:latin typeface="Avenir Next LT Pro"/>
                <a:ea typeface="+mn-lt"/>
                <a:cs typeface="+mn-lt"/>
              </a:rPr>
              <a:t>Insights</a:t>
            </a:r>
            <a:r>
              <a:rPr lang="en-US" sz="1500">
                <a:latin typeface="Avenir Next LT Pro"/>
                <a:ea typeface="+mn-lt"/>
                <a:cs typeface="+mn-lt"/>
              </a:rPr>
              <a:t>:</a:t>
            </a:r>
            <a:endParaRPr lang="en-US" sz="1500">
              <a:latin typeface="Avenir Next LT Pro"/>
            </a:endParaRPr>
          </a:p>
          <a:p>
            <a:pPr lvl="1"/>
            <a:r>
              <a:rPr lang="en-US" sz="1500">
                <a:latin typeface="Avenir Next LT Pro"/>
                <a:ea typeface="+mn-lt"/>
                <a:cs typeface="+mn-lt"/>
              </a:rPr>
              <a:t>Customers with </a:t>
            </a:r>
            <a:r>
              <a:rPr lang="en-US" sz="1500" b="1">
                <a:latin typeface="Avenir Next LT Pro"/>
                <a:ea typeface="+mn-lt"/>
                <a:cs typeface="+mn-lt"/>
              </a:rPr>
              <a:t>lower credit scores</a:t>
            </a:r>
            <a:r>
              <a:rPr lang="en-US" sz="1500">
                <a:latin typeface="Avenir Next LT Pro"/>
                <a:ea typeface="+mn-lt"/>
                <a:cs typeface="+mn-lt"/>
              </a:rPr>
              <a:t> are </a:t>
            </a:r>
          </a:p>
          <a:p>
            <a:pPr marL="457200" lvl="1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   more likely to have an insurance claim (</a:t>
            </a:r>
            <a:r>
              <a:rPr lang="en-US" sz="1500">
                <a:latin typeface="Avenir Next LT Pro"/>
              </a:rPr>
              <a:t>outcome = 1</a:t>
            </a:r>
            <a:r>
              <a:rPr lang="en-US" sz="1500">
                <a:latin typeface="Avenir Next LT Pro"/>
                <a:ea typeface="+mn-lt"/>
                <a:cs typeface="+mn-lt"/>
              </a:rPr>
              <a:t>).</a:t>
            </a:r>
            <a:endParaRPr lang="en-US" sz="1500">
              <a:latin typeface="Avenir Next LT Pro"/>
            </a:endParaRPr>
          </a:p>
          <a:p>
            <a:pPr lvl="1"/>
            <a:r>
              <a:rPr lang="en-US" sz="1500">
                <a:latin typeface="Avenir Next LT Pro"/>
                <a:ea typeface="+mn-lt"/>
                <a:cs typeface="+mn-lt"/>
              </a:rPr>
              <a:t>Higher credit scores are concentrated among </a:t>
            </a:r>
          </a:p>
          <a:p>
            <a:pPr marL="457200" lvl="1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   customers who did not file a claim (</a:t>
            </a:r>
            <a:r>
              <a:rPr lang="en-US" sz="1500">
                <a:latin typeface="Avenir Next LT Pro"/>
              </a:rPr>
              <a:t>outcome = 0</a:t>
            </a:r>
            <a:r>
              <a:rPr lang="en-US" sz="1500">
                <a:latin typeface="Avenir Next LT Pro"/>
                <a:ea typeface="+mn-lt"/>
                <a:cs typeface="+mn-lt"/>
              </a:rPr>
              <a:t>).</a:t>
            </a:r>
            <a:endParaRPr lang="en-US" sz="1500">
              <a:latin typeface="Avenir Next LT Pro"/>
            </a:endParaRPr>
          </a:p>
          <a:p>
            <a:r>
              <a:rPr lang="en-US" sz="1500" b="1">
                <a:latin typeface="Avenir Next LT Pro"/>
                <a:ea typeface="+mn-lt"/>
                <a:cs typeface="+mn-lt"/>
              </a:rPr>
              <a:t>Significance</a:t>
            </a:r>
            <a:r>
              <a:rPr lang="en-US" sz="1500">
                <a:latin typeface="Avenir Next LT Pro"/>
                <a:ea typeface="+mn-lt"/>
                <a:cs typeface="+mn-lt"/>
              </a:rPr>
              <a:t>: Credit scores could be a strong predictor </a:t>
            </a:r>
          </a:p>
          <a:p>
            <a:pPr marL="0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   of claims. Lower scores may indicate financial risk, </a:t>
            </a:r>
          </a:p>
          <a:p>
            <a:pPr marL="0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 correlating with a higher likelihood of accidents or claims.</a:t>
            </a:r>
            <a:endParaRPr lang="en-US" sz="1500">
              <a:latin typeface="Avenir Next LT Pro"/>
            </a:endParaRPr>
          </a:p>
          <a:p>
            <a:pPr>
              <a:buNone/>
            </a:pPr>
            <a:endParaRPr lang="en-US" b="1">
              <a:latin typeface="Avenir Next LT Pro"/>
            </a:endParaRP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diagram of a credit score&#10;&#10;Description automatically generated">
            <a:extLst>
              <a:ext uri="{FF2B5EF4-FFF2-40B4-BE49-F238E27FC236}">
                <a16:creationId xmlns:a16="http://schemas.microsoft.com/office/drawing/2014/main" id="{77A16CD3-718B-A318-9D9E-61FF76E07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373" y="1068803"/>
            <a:ext cx="5725361" cy="429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7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DC01-0F0D-616B-B77B-6FA19588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82" y="801781"/>
            <a:ext cx="10691265" cy="1518082"/>
          </a:xfrm>
        </p:spPr>
        <p:txBody>
          <a:bodyPr/>
          <a:lstStyle/>
          <a:p>
            <a:r>
              <a:rPr lang="en-US"/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AFF3D-5E5A-AA08-7525-FA55F85D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83" y="1557863"/>
            <a:ext cx="10838317" cy="4371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b="1">
                <a:latin typeface="Avenir Next LT Pro"/>
              </a:rPr>
              <a:t>2. Annual Mileage vs. Past Accidents</a:t>
            </a:r>
            <a:endParaRPr lang="en-US" sz="1500">
              <a:latin typeface="Avenir Next LT Pro"/>
            </a:endParaRPr>
          </a:p>
          <a:p>
            <a:pPr>
              <a:buFont typeface="Arial"/>
              <a:buChar char="•"/>
            </a:pPr>
            <a:r>
              <a:rPr lang="en-US" sz="1500" b="1">
                <a:latin typeface="Avenir Next LT Pro"/>
                <a:ea typeface="+mn-lt"/>
                <a:cs typeface="+mn-lt"/>
              </a:rPr>
              <a:t>Insights</a:t>
            </a:r>
            <a:r>
              <a:rPr lang="en-US" sz="1500">
                <a:latin typeface="Avenir Next LT Pro"/>
                <a:ea typeface="+mn-lt"/>
                <a:cs typeface="+mn-lt"/>
              </a:rPr>
              <a:t>:</a:t>
            </a:r>
            <a:endParaRPr lang="en-US" sz="1500">
              <a:latin typeface="Avenir Next LT Pro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500">
                <a:latin typeface="Avenir Next LT Pro"/>
                <a:ea typeface="+mn-lt"/>
                <a:cs typeface="+mn-lt"/>
              </a:rPr>
              <a:t>There is no clear linear relationship between annual </a:t>
            </a:r>
          </a:p>
          <a:p>
            <a:pPr lvl="1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     mileage and past accidents.</a:t>
            </a:r>
            <a:endParaRPr lang="en-US" sz="1500">
              <a:latin typeface="Avenir Next LT Pro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1500">
                <a:latin typeface="Avenir Next LT Pro"/>
                <a:ea typeface="+mn-lt"/>
                <a:cs typeface="+mn-lt"/>
              </a:rPr>
              <a:t>Some clustering may indicate more accidents </a:t>
            </a:r>
          </a:p>
          <a:p>
            <a:pPr lvl="1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     among drivers with </a:t>
            </a:r>
            <a:r>
              <a:rPr lang="en-US" sz="1500" b="1">
                <a:latin typeface="Avenir Next LT Pro"/>
                <a:ea typeface="+mn-lt"/>
                <a:cs typeface="+mn-lt"/>
              </a:rPr>
              <a:t>moderate mileage </a:t>
            </a:r>
            <a:endParaRPr lang="en-US" sz="1500">
              <a:latin typeface="Avenir Next LT Pro"/>
              <a:ea typeface="+mn-lt"/>
              <a:cs typeface="+mn-lt"/>
            </a:endParaRPr>
          </a:p>
          <a:p>
            <a:pPr lvl="1" indent="0">
              <a:buNone/>
            </a:pPr>
            <a:r>
              <a:rPr lang="en-US" sz="1500" b="1">
                <a:latin typeface="Avenir Next LT Pro"/>
                <a:ea typeface="+mn-lt"/>
                <a:cs typeface="+mn-lt"/>
              </a:rPr>
              <a:t>    (10,000–15,000 miles)</a:t>
            </a:r>
            <a:r>
              <a:rPr lang="en-US" sz="1500">
                <a:latin typeface="Avenir Next LT Pro"/>
                <a:ea typeface="+mn-lt"/>
                <a:cs typeface="+mn-lt"/>
              </a:rPr>
              <a:t>.</a:t>
            </a:r>
            <a:endParaRPr lang="en-US" sz="1500">
              <a:latin typeface="Avenir Next LT Pro"/>
            </a:endParaRPr>
          </a:p>
          <a:p>
            <a:pPr>
              <a:buFont typeface="Arial"/>
              <a:buChar char="•"/>
            </a:pPr>
            <a:r>
              <a:rPr lang="en-US" sz="1500" b="1">
                <a:latin typeface="Avenir Next LT Pro"/>
                <a:ea typeface="+mn-lt"/>
                <a:cs typeface="+mn-lt"/>
              </a:rPr>
              <a:t>Significance</a:t>
            </a:r>
            <a:r>
              <a:rPr lang="en-US" sz="1500">
                <a:latin typeface="Avenir Next LT Pro"/>
                <a:ea typeface="+mn-lt"/>
                <a:cs typeface="+mn-lt"/>
              </a:rPr>
              <a:t>: While mileage alone may not strongly </a:t>
            </a:r>
          </a:p>
          <a:p>
            <a:pPr marL="0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   predict accidents, moderate mileage could be an </a:t>
            </a:r>
          </a:p>
          <a:p>
            <a:pPr marL="0" indent="0">
              <a:buNone/>
            </a:pPr>
            <a:r>
              <a:rPr lang="en-US" sz="1500">
                <a:latin typeface="Avenir Next LT Pro"/>
                <a:ea typeface="+mn-lt"/>
                <a:cs typeface="+mn-lt"/>
              </a:rPr>
              <a:t>   indirect indicator of risk, such as frequent but cautious driving.</a:t>
            </a:r>
            <a:endParaRPr lang="en-US" sz="1500">
              <a:latin typeface="Avenir Next LT Pro"/>
            </a:endParaRPr>
          </a:p>
          <a:p>
            <a:pPr marL="0" indent="0">
              <a:buNone/>
            </a:pPr>
            <a:endParaRPr lang="en-US" sz="1500"/>
          </a:p>
          <a:p>
            <a:endParaRPr lang="en-US" sz="1500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graph of mileage and past accidents&#10;&#10;Description automatically generated">
            <a:extLst>
              <a:ext uri="{FF2B5EF4-FFF2-40B4-BE49-F238E27FC236}">
                <a16:creationId xmlns:a16="http://schemas.microsoft.com/office/drawing/2014/main" id="{D95CCA0B-C106-A03A-572E-9F7A5CD5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060" y="1275765"/>
            <a:ext cx="5942932" cy="43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50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E14B-B2A5-59D4-5D6D-6D2430DA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 anchor="t">
            <a:normAutofit/>
          </a:bodyPr>
          <a:lstStyle/>
          <a:p>
            <a:r>
              <a:rPr lang="en-US"/>
              <a:t>Decision  Tree Classifier</a:t>
            </a:r>
          </a:p>
        </p:txBody>
      </p:sp>
      <p:pic>
        <p:nvPicPr>
          <p:cNvPr id="9" name="Content Placeholder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8A229C0-C7C1-D3B1-EB61-0FE7A0999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35298" y="1713230"/>
            <a:ext cx="5273944" cy="149817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2A46-CE09-0277-EA2E-7F40B371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307371D-E468-4DF1-A3B8-D28C57DD40A7}" type="datetime1">
              <a:rPr lang="en-US"/>
              <a:pPr>
                <a:spcAft>
                  <a:spcPts val="600"/>
                </a:spcAft>
              </a:pPr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D35D9-9F77-813E-C0CB-409FDE521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5656-5368-F73C-0679-EDDF2A12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F721D1-E148-049C-34EC-AAFA08D73E48}"/>
              </a:ext>
            </a:extLst>
          </p:cNvPr>
          <p:cNvSpPr txBox="1"/>
          <p:nvPr/>
        </p:nvSpPr>
        <p:spPr>
          <a:xfrm>
            <a:off x="5731068" y="3426936"/>
            <a:ext cx="585469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The model achieves moderate accuracy (77%) but shows signs of </a:t>
            </a:r>
            <a:r>
              <a:rPr lang="en-US" b="1">
                <a:latin typeface="Avenir Next LT Pro"/>
                <a:ea typeface="+mn-lt"/>
                <a:cs typeface="+mn-lt"/>
              </a:rPr>
              <a:t>class imbalance</a:t>
            </a:r>
            <a:r>
              <a:rPr lang="en-US">
                <a:latin typeface="Avenir Next LT Pro"/>
                <a:ea typeface="+mn-lt"/>
                <a:cs typeface="+mn-lt"/>
              </a:rPr>
              <a:t>:</a:t>
            </a:r>
            <a:endParaRPr lang="en-US"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Precision and recall for "Attrite" (Class 1) are significantly lower than for "Not Attrite" (Class 0).</a:t>
            </a:r>
            <a:endParaRPr lang="en-US"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False Negatives (237) suggest that the model struggles to identify all cases of attrition, a critical issue in some use cases.</a:t>
            </a:r>
            <a:endParaRPr lang="en-US">
              <a:latin typeface="Avenir Next LT Pro"/>
            </a:endParaRPr>
          </a:p>
          <a:p>
            <a:endParaRPr lang="en-US">
              <a:latin typeface="Avenir Next LT Pr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6EFF71-9DA2-04CC-9CED-C9FABBA5B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678" y="1839651"/>
            <a:ext cx="5048227" cy="4087465"/>
          </a:xfrm>
        </p:spPr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95F1AD-FEAE-0009-9567-CECD00204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88" y="1730986"/>
            <a:ext cx="5460782" cy="420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31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C33B-F635-1931-DBA5-B624C617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 anchor="t">
            <a:normAutofit/>
          </a:bodyPr>
          <a:lstStyle/>
          <a:p>
            <a:r>
              <a:rPr lang="en-US"/>
              <a:t>Random Forest Classifier</a:t>
            </a:r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CF5DC3FE-F47E-E90F-C909-BCB67888D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02" y="1685056"/>
            <a:ext cx="5304417" cy="4240889"/>
          </a:xfrm>
          <a:prstGeom prst="rect">
            <a:avLst/>
          </a:prstGeom>
          <a:noFill/>
        </p:spPr>
      </p:pic>
      <p:pic>
        <p:nvPicPr>
          <p:cNvPr id="9" name="Content Placeholder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DB2A3F5-B220-B968-396D-4E46EB5331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830248" y="1699669"/>
            <a:ext cx="5758427" cy="146071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D7E20-6ADC-A4EC-DFAC-CE2BB6F6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AE79935-1AC3-4F5D-8763-2BFD6A7E51F6}" type="datetime1">
              <a:rPr lang="en-US"/>
              <a:pPr>
                <a:spcAft>
                  <a:spcPts val="600"/>
                </a:spcAft>
              </a:pPr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6E835-CE9B-017B-6132-771376F1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3DEEA-9E9B-18EF-E89C-93932EC9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718A8-99B7-9412-F647-5A82D9F6CD11}"/>
              </a:ext>
            </a:extLst>
          </p:cNvPr>
          <p:cNvSpPr txBox="1"/>
          <p:nvPr/>
        </p:nvSpPr>
        <p:spPr>
          <a:xfrm>
            <a:off x="5817377" y="3159592"/>
            <a:ext cx="577032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The model achieves </a:t>
            </a:r>
            <a:r>
              <a:rPr lang="en-US" b="1">
                <a:latin typeface="Avenir Next LT Pro"/>
                <a:ea typeface="+mn-lt"/>
                <a:cs typeface="+mn-lt"/>
              </a:rPr>
              <a:t>low recall (63%)</a:t>
            </a:r>
            <a:r>
              <a:rPr lang="en-US">
                <a:latin typeface="Avenir Next LT Pro"/>
                <a:ea typeface="+mn-lt"/>
                <a:cs typeface="+mn-lt"/>
              </a:rPr>
              <a:t> and </a:t>
            </a:r>
            <a:r>
              <a:rPr lang="en-US" b="1">
                <a:latin typeface="Avenir Next LT Pro"/>
                <a:ea typeface="+mn-lt"/>
                <a:cs typeface="+mn-lt"/>
              </a:rPr>
              <a:t>moderate precision (79%)</a:t>
            </a:r>
            <a:r>
              <a:rPr lang="en-US">
                <a:latin typeface="Avenir Next LT Pro"/>
                <a:ea typeface="+mn-lt"/>
                <a:cs typeface="+mn-lt"/>
              </a:rPr>
              <a:t> for the "Claimed" class.</a:t>
            </a:r>
            <a:endParaRPr lang="en-US"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Lower recall (63%) for the "Claimed" class indicates the model is missing some true "Claimed" instances.</a:t>
            </a:r>
            <a:endParaRPr lang="en-US"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venir Next LT Pro"/>
                <a:ea typeface="+mn-lt"/>
                <a:cs typeface="+mn-lt"/>
              </a:rPr>
              <a:t>Overall Accuracy</a:t>
            </a:r>
            <a:r>
              <a:rPr lang="en-US">
                <a:latin typeface="Avenir Next LT Pro"/>
                <a:ea typeface="+mn-lt"/>
                <a:cs typeface="+mn-lt"/>
              </a:rPr>
              <a:t>: A strong </a:t>
            </a:r>
            <a:r>
              <a:rPr lang="en-US" b="1">
                <a:latin typeface="Avenir Next LT Pro"/>
                <a:ea typeface="+mn-lt"/>
                <a:cs typeface="+mn-lt"/>
              </a:rPr>
              <a:t>83% accuracy</a:t>
            </a:r>
            <a:r>
              <a:rPr lang="en-US">
                <a:latin typeface="Avenir Next LT Pro"/>
                <a:ea typeface="+mn-lt"/>
                <a:cs typeface="+mn-lt"/>
              </a:rPr>
              <a:t>, balancing both classes.</a:t>
            </a:r>
            <a:endParaRPr lang="en-US">
              <a:latin typeface="Avenir Next LT Pro"/>
            </a:endParaRPr>
          </a:p>
          <a:p>
            <a:pPr algn="l"/>
            <a:endParaRPr lang="en-US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2184234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95CF-B4D8-DBA5-6EC3-A1817D7C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583" y="922096"/>
            <a:ext cx="10686317" cy="612691"/>
          </a:xfrm>
        </p:spPr>
        <p:txBody>
          <a:bodyPr>
            <a:noAutofit/>
          </a:bodyPr>
          <a:lstStyle/>
          <a:p>
            <a:r>
              <a:rPr lang="en-US" sz="4400">
                <a:ea typeface="+mj-lt"/>
                <a:cs typeface="+mj-lt"/>
              </a:rPr>
              <a:t>Logistic Regression</a:t>
            </a:r>
            <a:endParaRPr lang="en-US" sz="4400"/>
          </a:p>
        </p:txBody>
      </p:sp>
      <p:pic>
        <p:nvPicPr>
          <p:cNvPr id="7" name="Content Placeholder 6" descr="A screenshot of a graph&#10;&#10;Description automatically generated">
            <a:extLst>
              <a:ext uri="{FF2B5EF4-FFF2-40B4-BE49-F238E27FC236}">
                <a16:creationId xmlns:a16="http://schemas.microsoft.com/office/drawing/2014/main" id="{D8BBBC3A-F7D0-9A74-C306-3CF1F76BF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150" y="1711940"/>
            <a:ext cx="5552405" cy="422063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432F5-3FC6-E039-09BA-A62AAF77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F0707-9673-4DD0-BCA2-64F47A3C6126}" type="datetime1">
              <a:rPr lang="en-US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CE3E1-DDF7-734F-7E5D-8BAB8273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59634-717B-7AA9-B40E-57B59B83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10</a:t>
            </a:fld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ED69D28-12E0-729A-03F5-FC38ECD74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800" y="1541876"/>
            <a:ext cx="5512234" cy="1352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347B8F-8287-A741-E78D-91B906215CF0}"/>
              </a:ext>
            </a:extLst>
          </p:cNvPr>
          <p:cNvSpPr txBox="1"/>
          <p:nvPr/>
        </p:nvSpPr>
        <p:spPr>
          <a:xfrm>
            <a:off x="5774890" y="3148405"/>
            <a:ext cx="551381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The model achieves </a:t>
            </a:r>
            <a:r>
              <a:rPr lang="en-US" b="1">
                <a:latin typeface="Avenir Next LT Pro"/>
                <a:ea typeface="+mn-lt"/>
                <a:cs typeface="+mn-lt"/>
              </a:rPr>
              <a:t>high recall (91%)</a:t>
            </a:r>
            <a:r>
              <a:rPr lang="en-US">
                <a:latin typeface="Avenir Next LT Pro"/>
                <a:ea typeface="+mn-lt"/>
                <a:cs typeface="+mn-lt"/>
              </a:rPr>
              <a:t> and </a:t>
            </a:r>
            <a:r>
              <a:rPr lang="en-US" b="1">
                <a:latin typeface="Avenir Next LT Pro"/>
                <a:ea typeface="+mn-lt"/>
                <a:cs typeface="+mn-lt"/>
              </a:rPr>
              <a:t>high precision (87%)</a:t>
            </a:r>
            <a:r>
              <a:rPr lang="en-US">
                <a:latin typeface="Avenir Next LT Pro"/>
                <a:ea typeface="+mn-lt"/>
                <a:cs typeface="+mn-lt"/>
              </a:rPr>
              <a:t> for the "Not Claimed" class.</a:t>
            </a:r>
            <a:endParaRPr lang="en-US"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Compared to prior models, this logistic regression model performs better for the "Claimed" class, achieving a </a:t>
            </a:r>
            <a:r>
              <a:rPr lang="en-US" b="1">
                <a:latin typeface="Avenir Next LT Pro"/>
                <a:ea typeface="+mn-lt"/>
                <a:cs typeface="+mn-lt"/>
              </a:rPr>
              <a:t>71% recall</a:t>
            </a:r>
            <a:r>
              <a:rPr lang="en-US">
                <a:latin typeface="Avenir Next LT Pro"/>
                <a:ea typeface="+mn-lt"/>
                <a:cs typeface="+mn-lt"/>
              </a:rPr>
              <a:t> and a </a:t>
            </a:r>
            <a:r>
              <a:rPr lang="en-US" b="1">
                <a:latin typeface="Avenir Next LT Pro"/>
                <a:ea typeface="+mn-lt"/>
                <a:cs typeface="+mn-lt"/>
              </a:rPr>
              <a:t>74% F1-score</a:t>
            </a:r>
            <a:r>
              <a:rPr lang="en-US">
                <a:latin typeface="Avenir Next LT Pro"/>
                <a:ea typeface="+mn-lt"/>
                <a:cs typeface="+mn-lt"/>
              </a:rPr>
              <a:t>.</a:t>
            </a:r>
            <a:endParaRPr lang="en-US">
              <a:latin typeface="Avenir Next LT Pro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The weighted averages across metrics indicate strong general performance.</a:t>
            </a:r>
            <a:endParaRPr lang="en-US">
              <a:latin typeface="Avenir Next LT Pro"/>
            </a:endParaRPr>
          </a:p>
          <a:p>
            <a:pPr algn="l"/>
            <a:endParaRPr lang="en-US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67156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1159-0DBA-778D-E52A-0453DE6A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Results Comparison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EB5A-0C69-640D-5FF6-D20E692B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073" y="1844277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latin typeface="Avenir Next LT Pro"/>
                <a:ea typeface="+mn-lt"/>
                <a:cs typeface="+mn-lt"/>
              </a:rPr>
              <a:t>Logistic Regression </a:t>
            </a:r>
            <a:r>
              <a:rPr lang="en-US" sz="1800">
                <a:latin typeface="Avenir Next LT Pro"/>
                <a:ea typeface="+mn-lt"/>
                <a:cs typeface="+mn-lt"/>
              </a:rPr>
              <a:t>is the preferred model as it balances precision and recall effectively, making it the best-performing model for this dataset.</a:t>
            </a:r>
          </a:p>
          <a:p>
            <a:r>
              <a:rPr lang="en-US" sz="1800">
                <a:latin typeface="Avenir Next LT Pro"/>
                <a:ea typeface="+mn-lt"/>
                <a:cs typeface="+mn-lt"/>
              </a:rPr>
              <a:t>Balanced performance metrics: Best recall (</a:t>
            </a:r>
            <a:r>
              <a:rPr lang="en-US" sz="1800" b="1">
                <a:latin typeface="Avenir Next LT Pro"/>
                <a:ea typeface="+mn-lt"/>
                <a:cs typeface="+mn-lt"/>
              </a:rPr>
              <a:t>71%</a:t>
            </a:r>
            <a:r>
              <a:rPr lang="en-US" sz="1800">
                <a:latin typeface="Avenir Next LT Pro"/>
                <a:ea typeface="+mn-lt"/>
                <a:cs typeface="+mn-lt"/>
              </a:rPr>
              <a:t>) and F1-score (</a:t>
            </a:r>
            <a:r>
              <a:rPr lang="en-US" sz="1800" b="1">
                <a:latin typeface="Avenir Next LT Pro"/>
                <a:ea typeface="+mn-lt"/>
                <a:cs typeface="+mn-lt"/>
              </a:rPr>
              <a:t>74%</a:t>
            </a:r>
            <a:r>
              <a:rPr lang="en-US" sz="1800">
                <a:latin typeface="Avenir Next LT Pro"/>
                <a:ea typeface="+mn-lt"/>
                <a:cs typeface="+mn-lt"/>
              </a:rPr>
              <a:t>) for the "Claimed" class.</a:t>
            </a:r>
          </a:p>
          <a:p>
            <a:r>
              <a:rPr lang="en-US" sz="1800">
                <a:latin typeface="Avenir Next LT Pro"/>
                <a:ea typeface="+mn-lt"/>
                <a:cs typeface="+mn-lt"/>
              </a:rPr>
              <a:t>Performs consistently across training and test datasets, indicating low overfitting.</a:t>
            </a:r>
          </a:p>
          <a:p>
            <a:r>
              <a:rPr lang="en-US" sz="1800">
                <a:latin typeface="Avenir Next LT Pro"/>
                <a:ea typeface="+mn-lt"/>
                <a:cs typeface="+mn-lt"/>
              </a:rPr>
              <a:t>Actionable insights: Model coefficients provide valuable interpretability for decision-making.</a:t>
            </a:r>
          </a:p>
          <a:p>
            <a:r>
              <a:rPr lang="en-US" sz="1800">
                <a:latin typeface="Avenir Next LT Pro"/>
                <a:ea typeface="+mn-lt"/>
                <a:cs typeface="+mn-lt"/>
              </a:rPr>
              <a:t>Random Forest is close in performance but slightly lower.</a:t>
            </a:r>
          </a:p>
          <a:p>
            <a:r>
              <a:rPr lang="en-US" sz="1800">
                <a:latin typeface="Avenir Next LT Pro"/>
                <a:ea typeface="+mn-lt"/>
                <a:cs typeface="+mn-lt"/>
              </a:rPr>
              <a:t>Decision Tree trails behind in all metrics.</a:t>
            </a:r>
          </a:p>
          <a:p>
            <a:endParaRPr lang="en-US" i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17658-A15D-788E-8628-53CC864A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4799-07A2-4D51-950E-A38039A0883D}" type="datetime1">
              <a:rPr lang="en-US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B8968-6257-B653-7C74-858B1BAC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A4DA8-373B-2D6D-E623-A943A571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64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2A72-8006-C750-D9CF-AF7C094C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942B7FE9-045F-B0E0-83A9-3AA890EB8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05" y="1715269"/>
            <a:ext cx="5421749" cy="42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717347-A038-4EF5-E8CC-1EF18F780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583" y="922096"/>
            <a:ext cx="10686317" cy="612691"/>
          </a:xfrm>
        </p:spPr>
        <p:txBody>
          <a:bodyPr>
            <a:noAutofit/>
          </a:bodyPr>
          <a:lstStyle/>
          <a:p>
            <a:r>
              <a:rPr lang="en-US" sz="4400">
                <a:ea typeface="+mj-lt"/>
                <a:cs typeface="+mj-lt"/>
              </a:rPr>
              <a:t>ENSEMBLE METHODS</a:t>
            </a:r>
            <a:endParaRPr lang="en-US" sz="4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6C64-5937-BD1F-0CC2-1440D140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F0707-9673-4DD0-BCA2-64F47A3C6126}" type="datetime1">
              <a:rPr lang="en-US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96770-CF22-D800-182D-6DD2B7DC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110B5-E747-EF22-45DC-EAA2C4E23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5761A-5EAA-DCF5-4326-478EFFB82D42}"/>
              </a:ext>
            </a:extLst>
          </p:cNvPr>
          <p:cNvSpPr txBox="1"/>
          <p:nvPr/>
        </p:nvSpPr>
        <p:spPr>
          <a:xfrm>
            <a:off x="5878089" y="3688155"/>
            <a:ext cx="551381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  <a:ea typeface="+mn-lt"/>
                <a:cs typeface="+mn-lt"/>
              </a:rPr>
              <a:t>We used a Bagging Classifier and performed cross validation to improve model performance.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venir Next LT Pro"/>
              </a:rPr>
              <a:t>We see a slight improvement in accuracy (85%) while maintaining recall value at 71%.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venir Next LT Pro"/>
            </a:endParaRPr>
          </a:p>
          <a:p>
            <a:pPr algn="l"/>
            <a:endParaRPr lang="en-US">
              <a:latin typeface="Avenir Next LT Pro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BA1435-1680-895F-2E80-B5199C6E0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749" y="1123628"/>
            <a:ext cx="5468113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71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782F-61FF-17C7-2653-CDA3A35E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Suggestions for improvement	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77AE2-314F-A9B1-F12E-E387F5D1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338F-B32E-4C28-ABB4-ECED00837CC7}" type="datetime1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A2424-79F9-4393-BBD6-864D3FD81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B44F-6816-BEC3-54EB-4F031931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38E94-90A4-6D1C-C99D-C376D18CED99}"/>
              </a:ext>
            </a:extLst>
          </p:cNvPr>
          <p:cNvSpPr txBox="1"/>
          <p:nvPr/>
        </p:nvSpPr>
        <p:spPr>
          <a:xfrm>
            <a:off x="700635" y="1903805"/>
            <a:ext cx="10951615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/>
              </a:rPr>
              <a:t>Outlier Analysis and pre-processing  - Studying and addressing outliers could give the business some context on what can be expected and general trends.</a:t>
            </a:r>
          </a:p>
          <a:p>
            <a:endParaRPr lang="en-US"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/>
              </a:rPr>
              <a:t>Other Ensemble Methods  - Bagging was used, but Voting could have performed better on the dataset. </a:t>
            </a:r>
          </a:p>
          <a:p>
            <a:endParaRPr lang="en-US" sz="2400"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venir Next LT Pro"/>
              </a:rPr>
              <a:t>Including more data – since the dataset is heavily imbalanced towards “Not claimed”, we could improve model performance by using more data.</a:t>
            </a:r>
          </a:p>
          <a:p>
            <a:endParaRPr lang="en-US" sz="2400">
              <a:latin typeface="Avenir Next LT Pro"/>
            </a:endParaRPr>
          </a:p>
          <a:p>
            <a:endParaRPr lang="en-US" sz="2800">
              <a:latin typeface="Avenir Next LT 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2549192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5492-AB51-C587-3528-DCB133EC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2BEA5-2134-98AB-59F1-B17C28219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65337"/>
            <a:ext cx="10691265" cy="36360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n-US" sz="1600" b="1">
                <a:latin typeface="Avenir Next LT Pro"/>
              </a:rPr>
              <a:t>Risk-Based Pricing - </a:t>
            </a:r>
            <a:r>
              <a:rPr lang="en-US" sz="1600">
                <a:latin typeface="Avenir Next LT Pro"/>
              </a:rPr>
              <a:t>The model identifies high-risk customers based on features like credit score, speeding violations, and claim history.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Recommendation</a:t>
            </a:r>
            <a:r>
              <a:rPr lang="en-US" sz="1600">
                <a:latin typeface="Avenir Next LT Pro"/>
              </a:rPr>
              <a:t>:</a:t>
            </a:r>
          </a:p>
          <a:p>
            <a:pPr lvl="1"/>
            <a:r>
              <a:rPr lang="en-US" sz="1600">
                <a:latin typeface="Avenir Next LT Pro"/>
              </a:rPr>
              <a:t>Implement </a:t>
            </a:r>
            <a:r>
              <a:rPr lang="en-US" sz="1600" b="1">
                <a:latin typeface="Avenir Next LT Pro"/>
              </a:rPr>
              <a:t>dynamic premium pricing</a:t>
            </a:r>
            <a:r>
              <a:rPr lang="en-US" sz="1600">
                <a:latin typeface="Avenir Next LT Pro"/>
              </a:rPr>
              <a:t>: Charge higher premiums for high-risk customers while offering discounts to low-risk customers to remain competitive.</a:t>
            </a:r>
          </a:p>
          <a:p>
            <a:pPr lvl="1"/>
            <a:r>
              <a:rPr lang="en-US" sz="1600">
                <a:latin typeface="Avenir Next LT Pro"/>
              </a:rPr>
              <a:t>Provide risk-reduction incentives (e.g., safe driving discounts) to encourage responsible behavior among high-risk groups.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2.   Fraud Detection and Prevention - </a:t>
            </a:r>
            <a:r>
              <a:rPr lang="en-US" sz="1600">
                <a:latin typeface="Avenir Next LT Pro"/>
              </a:rPr>
              <a:t>The model could flag patterns or characteristics often associated with fraudulent claims.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Recommendation</a:t>
            </a:r>
            <a:r>
              <a:rPr lang="en-US" sz="1600">
                <a:latin typeface="Avenir Next LT Pro"/>
              </a:rPr>
              <a:t>:</a:t>
            </a:r>
          </a:p>
          <a:p>
            <a:pPr lvl="1"/>
            <a:r>
              <a:rPr lang="en-US" sz="1600">
                <a:latin typeface="Avenir Next LT Pro"/>
              </a:rPr>
              <a:t>Use the model to create a </a:t>
            </a:r>
            <a:r>
              <a:rPr lang="en-US" sz="1600" b="1">
                <a:latin typeface="Avenir Next LT Pro"/>
              </a:rPr>
              <a:t>claim triage system</a:t>
            </a:r>
            <a:r>
              <a:rPr lang="en-US" sz="1600">
                <a:latin typeface="Avenir Next LT Pro"/>
              </a:rPr>
              <a:t>, where high-risk claims are flagged for further investigation, reducing costs associated with fraud.</a:t>
            </a:r>
          </a:p>
          <a:p>
            <a:pPr lvl="1"/>
            <a:r>
              <a:rPr lang="en-US" sz="1600">
                <a:latin typeface="Avenir Next LT Pro"/>
              </a:rPr>
              <a:t>Invest in technology and training for adjusters to better handle flagged claims.</a:t>
            </a:r>
          </a:p>
          <a:p>
            <a:pPr lvl="1"/>
            <a:endParaRPr lang="en-US"/>
          </a:p>
          <a:p>
            <a:pPr>
              <a:buAutoNum type="arabicPeriod"/>
            </a:pPr>
            <a:endParaRPr lang="en-US"/>
          </a:p>
          <a:p>
            <a:pPr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01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5492-AB51-C587-3528-DCB133EC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2BEA5-2134-98AB-59F1-B17C28219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65337"/>
            <a:ext cx="10691265" cy="36360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>
                <a:latin typeface="Avenir Next LT Pro"/>
              </a:rPr>
              <a:t>3. </a:t>
            </a:r>
            <a:r>
              <a:rPr lang="en-US" sz="1600" b="1">
                <a:latin typeface="Avenir Next LT Pro"/>
              </a:rPr>
              <a:t>Prevention and Customer Education - </a:t>
            </a:r>
            <a:r>
              <a:rPr lang="en-US" sz="1600">
                <a:latin typeface="Avenir Next LT Pro"/>
              </a:rPr>
              <a:t>Factors</a:t>
            </a:r>
            <a:r>
              <a:rPr lang="en-US" sz="1600">
                <a:latin typeface="Avenir Next LT Pro"/>
                <a:ea typeface="+mn-lt"/>
                <a:cs typeface="+mn-lt"/>
              </a:rPr>
              <a:t> like speeding violations and past accidents are significant predictors of claims.</a:t>
            </a:r>
            <a:endParaRPr lang="en-US" sz="1600">
              <a:latin typeface="Avenir Next LT Pro"/>
            </a:endParaRPr>
          </a:p>
          <a:p>
            <a:r>
              <a:rPr lang="en-US" sz="1600" b="1">
                <a:latin typeface="Avenir Next LT Pro"/>
                <a:ea typeface="+mn-lt"/>
                <a:cs typeface="+mn-lt"/>
              </a:rPr>
              <a:t>Recommendation</a:t>
            </a:r>
            <a:r>
              <a:rPr lang="en-US" sz="1600">
                <a:latin typeface="Avenir Next LT Pro"/>
                <a:ea typeface="+mn-lt"/>
                <a:cs typeface="+mn-lt"/>
              </a:rPr>
              <a:t>:</a:t>
            </a:r>
            <a:endParaRPr lang="en-US" sz="1600">
              <a:latin typeface="Avenir Next LT Pro"/>
            </a:endParaRPr>
          </a:p>
          <a:p>
            <a:pPr marL="971550" lvl="1" indent="-285750"/>
            <a:r>
              <a:rPr lang="en-US" sz="1600">
                <a:latin typeface="Avenir Next LT Pro"/>
                <a:ea typeface="+mn-lt"/>
                <a:cs typeface="+mn-lt"/>
              </a:rPr>
              <a:t>Launch </a:t>
            </a:r>
            <a:r>
              <a:rPr lang="en-US" sz="1600" b="1">
                <a:latin typeface="Avenir Next LT Pro"/>
                <a:ea typeface="+mn-lt"/>
                <a:cs typeface="+mn-lt"/>
              </a:rPr>
              <a:t>educational campaigns</a:t>
            </a:r>
            <a:r>
              <a:rPr lang="en-US" sz="1600">
                <a:latin typeface="Avenir Next LT Pro"/>
                <a:ea typeface="+mn-lt"/>
                <a:cs typeface="+mn-lt"/>
              </a:rPr>
              <a:t>:</a:t>
            </a:r>
            <a:endParaRPr lang="en-US" sz="1600">
              <a:latin typeface="Avenir Next LT Pro"/>
            </a:endParaRPr>
          </a:p>
          <a:p>
            <a:pPr marL="1428750" lvl="2" indent="-285750"/>
            <a:r>
              <a:rPr lang="en-US">
                <a:latin typeface="Avenir Next LT Pro"/>
                <a:ea typeface="+mn-lt"/>
                <a:cs typeface="+mn-lt"/>
              </a:rPr>
              <a:t>Promote safe driving habits among customers with incentives like reduced premiums for no speeding violations.</a:t>
            </a:r>
            <a:endParaRPr lang="en-US">
              <a:latin typeface="Avenir Next LT Pro"/>
            </a:endParaRPr>
          </a:p>
          <a:p>
            <a:pPr marL="1428750" lvl="2" indent="-285750"/>
            <a:r>
              <a:rPr lang="en-US">
                <a:latin typeface="Avenir Next LT Pro"/>
                <a:ea typeface="+mn-lt"/>
                <a:cs typeface="+mn-lt"/>
              </a:rPr>
              <a:t>Offer training programs or workshops for fleet customers to lower their claims risk.</a:t>
            </a:r>
            <a:endParaRPr lang="en-US">
              <a:latin typeface="Avenir Next LT Pro"/>
            </a:endParaRPr>
          </a:p>
          <a:p>
            <a:pPr marL="971550" lvl="1" indent="-285750"/>
            <a:r>
              <a:rPr lang="en-US" sz="1600">
                <a:latin typeface="Avenir Next LT Pro"/>
                <a:ea typeface="+mn-lt"/>
                <a:cs typeface="+mn-lt"/>
              </a:rPr>
              <a:t>Partner with telematics providers (e.g., GPS or driving behavior trackers) to monitor driving habits and offer proactive risk mitigation.</a:t>
            </a:r>
            <a:endParaRPr lang="en-US" sz="1600">
              <a:latin typeface="Avenir Next LT Pro"/>
            </a:endParaRPr>
          </a:p>
          <a:p>
            <a:pPr marL="457200" lvl="1" indent="0">
              <a:buNone/>
            </a:pPr>
            <a:endParaRPr lang="en-US"/>
          </a:p>
          <a:p>
            <a:pPr>
              <a:buAutoNum type="arabicPeriod"/>
            </a:pPr>
            <a:endParaRPr lang="en-US"/>
          </a:p>
          <a:p>
            <a:pPr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36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A021-3F8F-80C7-B2C6-43B18C39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2285488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1505</Words>
  <Application>Microsoft Macintosh PowerPoint</Application>
  <PresentationFormat>Widescreen</PresentationFormat>
  <Paragraphs>152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Avenir Next LT Pro</vt:lpstr>
      <vt:lpstr>Calibri</vt:lpstr>
      <vt:lpstr>Calisto MT</vt:lpstr>
      <vt:lpstr>Univers Condensed</vt:lpstr>
      <vt:lpstr>ChronicleVTI</vt:lpstr>
      <vt:lpstr>Final Project Presentation</vt:lpstr>
      <vt:lpstr>GOAL </vt:lpstr>
      <vt:lpstr>Introduction and Background</vt:lpstr>
      <vt:lpstr>Introduction and Background</vt:lpstr>
      <vt:lpstr>ANALYSIS OF DATASET </vt:lpstr>
      <vt:lpstr>BIVARIATE ANALYSIS</vt:lpstr>
      <vt:lpstr>BIVARIATE ANALYSIS</vt:lpstr>
      <vt:lpstr>Decision  Tree Classifier</vt:lpstr>
      <vt:lpstr>Random Forest Classifier</vt:lpstr>
      <vt:lpstr>Logistic Regression</vt:lpstr>
      <vt:lpstr>Results Comparison</vt:lpstr>
      <vt:lpstr>ENSEMBLE METHODS</vt:lpstr>
      <vt:lpstr>Suggestions for improvement </vt:lpstr>
      <vt:lpstr>Business Recommendations</vt:lpstr>
      <vt:lpstr>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Presentation</dc:title>
  <dc:creator>Tanay Vaddiparthi</dc:creator>
  <cp:lastModifiedBy>Sai Saran Ravi</cp:lastModifiedBy>
  <cp:revision>3</cp:revision>
  <dcterms:created xsi:type="dcterms:W3CDTF">2024-12-03T15:17:02Z</dcterms:created>
  <dcterms:modified xsi:type="dcterms:W3CDTF">2025-11-21T18:30:46Z</dcterms:modified>
</cp:coreProperties>
</file>